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-2743200"/>
            <a:ext cx="6400800" cy="64008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77724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620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9052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777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HACKATHON  • 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SkillsHub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Skills Intelligence Platform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“Type a question in plain English. Get a ranked, reasoned answer in seconds.”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343400"/>
            <a:ext cx="2411730" cy="384048"/>
          </a:xfrm>
          <a:prstGeom prst="roundRect">
            <a:avLst>
              <a:gd name="adj" fmla="val 11905"/>
            </a:avLst>
          </a:prstGeom>
          <a:solidFill>
            <a:srgbClr val="16204A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4471416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343400"/>
            <a:ext cx="19545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Extraction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34690" y="4343400"/>
            <a:ext cx="2411730" cy="384048"/>
          </a:xfrm>
          <a:prstGeom prst="roundRect">
            <a:avLst>
              <a:gd name="adj" fmla="val 11905"/>
            </a:avLst>
          </a:prstGeom>
          <a:solidFill>
            <a:srgbClr val="16204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9282" y="44714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0450" y="4343400"/>
            <a:ext cx="19545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NL Search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83580" y="4343400"/>
            <a:ext cx="2411730" cy="384048"/>
          </a:xfrm>
          <a:prstGeom prst="roundRect">
            <a:avLst>
              <a:gd name="adj" fmla="val 11905"/>
            </a:avLst>
          </a:prstGeom>
          <a:solidFill>
            <a:srgbClr val="16204A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8172" y="4471416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9340" y="4343400"/>
            <a:ext cx="19545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Reasoning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32470" y="4343400"/>
            <a:ext cx="2411730" cy="384048"/>
          </a:xfrm>
          <a:prstGeom prst="roundRect">
            <a:avLst>
              <a:gd name="adj" fmla="val 11905"/>
            </a:avLst>
          </a:prstGeom>
          <a:solidFill>
            <a:srgbClr val="16204A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97062" y="447141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98230" y="4343400"/>
            <a:ext cx="19545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5074920"/>
            <a:ext cx="3169920" cy="868680"/>
          </a:xfrm>
          <a:prstGeom prst="roundRect">
            <a:avLst>
              <a:gd name="adj" fmla="val 8421"/>
            </a:avLst>
          </a:prstGeom>
          <a:solidFill>
            <a:srgbClr val="11193A"/>
          </a:solidFill>
          <a:ln w="9525">
            <a:solidFill>
              <a:srgbClr val="2430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166360"/>
            <a:ext cx="280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5440680"/>
            <a:ext cx="280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SkillsHub AI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130040" y="5074920"/>
            <a:ext cx="3169920" cy="868680"/>
          </a:xfrm>
          <a:prstGeom prst="roundRect">
            <a:avLst>
              <a:gd name="adj" fmla="val 8421"/>
            </a:avLst>
          </a:prstGeom>
          <a:solidFill>
            <a:srgbClr val="11193A"/>
          </a:solidFill>
          <a:ln w="9525">
            <a:solidFill>
              <a:srgbClr val="2430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2920" y="5166360"/>
            <a:ext cx="280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12920" y="5440680"/>
            <a:ext cx="280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Vector-Minds (with Claude AI)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574280" y="5074920"/>
            <a:ext cx="3169920" cy="868680"/>
          </a:xfrm>
          <a:prstGeom prst="roundRect">
            <a:avLst>
              <a:gd name="adj" fmla="val 8421"/>
            </a:avLst>
          </a:prstGeom>
          <a:solidFill>
            <a:srgbClr val="11193A"/>
          </a:solidFill>
          <a:ln w="9525">
            <a:solidFill>
              <a:srgbClr val="2430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57160" y="5166360"/>
            <a:ext cx="280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57160" y="5440680"/>
            <a:ext cx="280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Ketan Patil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" y="6355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•  2026-05-16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33895" y="6355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github.com/KetanPatil27 / skillshub-ai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6204A"/>
          </a:solidFill>
          <a:ln w="9525">
            <a:solidFill>
              <a:srgbClr val="243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8404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560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SkillsHub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20095" y="256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200-person engineering org, basic staffing questions take a week.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4206240" cy="3977640"/>
          </a:xfrm>
          <a:prstGeom prst="roundRect">
            <a:avLst>
              <a:gd name="adj" fmla="val 2759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860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in Pune knows Java and has shipped a Razorpay integration?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77240" y="5257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delivery manager, on Slack, asking 10 different people.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2148840"/>
            <a:ext cx="3284068" cy="1173480"/>
          </a:xfrm>
          <a:prstGeom prst="roundRect">
            <a:avLst>
              <a:gd name="adj" fmla="val 7792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331720"/>
            <a:ext cx="457200" cy="45720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15000" y="2331720"/>
            <a:ext cx="2369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2862072"/>
            <a:ext cx="291830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live in stale spreadsheets, Slack DMs, and managers' heads.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450428" y="2148840"/>
            <a:ext cx="3284068" cy="1173480"/>
          </a:xfrm>
          <a:prstGeom prst="roundRect">
            <a:avLst>
              <a:gd name="adj" fmla="val 7792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33308" y="2331720"/>
            <a:ext cx="457200" cy="457200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3330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27668" y="2331720"/>
            <a:ext cx="2369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lookup tax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33308" y="2862072"/>
            <a:ext cx="291830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staffing question burns days of follow-ups across teams.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3550920"/>
            <a:ext cx="3284068" cy="1173480"/>
          </a:xfrm>
          <a:prstGeom prst="roundRect">
            <a:avLst>
              <a:gd name="adj" fmla="val 7792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3733800"/>
            <a:ext cx="457200" cy="45720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733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715000" y="3733800"/>
            <a:ext cx="2369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fails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20640" y="4264152"/>
            <a:ext cx="291830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“Payment gateway” misses the engineer whose resume says “Razorpay”.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450428" y="3550920"/>
            <a:ext cx="3284068" cy="1173480"/>
          </a:xfrm>
          <a:prstGeom prst="roundRect">
            <a:avLst>
              <a:gd name="adj" fmla="val 7792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33308" y="3733800"/>
            <a:ext cx="457200" cy="457200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33308" y="3733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227668" y="3733800"/>
            <a:ext cx="2369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dependency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33308" y="4264152"/>
            <a:ext cx="291830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wait on the institutional memory of senior leads.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37760" y="4953000"/>
            <a:ext cx="3284068" cy="1173480"/>
          </a:xfrm>
          <a:prstGeom prst="roundRect">
            <a:avLst>
              <a:gd name="adj" fmla="val 7792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0640" y="5135880"/>
            <a:ext cx="457200" cy="457200"/>
          </a:xfrm>
          <a:prstGeom prst="ellipse">
            <a:avLst/>
          </a:prstGeom>
          <a:solidFill>
            <a:srgbClr val="22D3EE">
              <a:alpha val="2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513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🪑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715000" y="5135880"/>
            <a:ext cx="2369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bench talent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20640" y="5666232"/>
            <a:ext cx="291830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already free get overlooked for past, untagged work.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450428" y="4953000"/>
            <a:ext cx="3284068" cy="1173480"/>
          </a:xfrm>
          <a:prstGeom prst="roundRect">
            <a:avLst>
              <a:gd name="adj" fmla="val 7792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33308" y="5135880"/>
            <a:ext cx="457200" cy="457200"/>
          </a:xfrm>
          <a:prstGeom prst="ellipse">
            <a:avLst/>
          </a:prstGeom>
          <a:solidFill>
            <a:srgbClr val="F472B6">
              <a:alpha val="25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33308" y="513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227668" y="5135880"/>
            <a:ext cx="2369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demand visibility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633308" y="5666232"/>
            <a:ext cx="291830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log of what HR was even looking for last quarter.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430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Vector-Minds  •  Ketan Patil  •  SkillsHub AI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48095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Skills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6204A"/>
          </a:solidFill>
          <a:ln w="9525">
            <a:solidFill>
              <a:srgbClr val="243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8404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560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SkillsHub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20095" y="256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spine. Two magic screens. Every result is reasoned &amp; cited.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1277295" cy="1005840"/>
          </a:xfrm>
          <a:prstGeom prst="roundRect">
            <a:avLst>
              <a:gd name="adj" fmla="val 10909"/>
            </a:avLst>
          </a:prstGeom>
          <a:solidFill>
            <a:srgbClr val="11193A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2313432"/>
            <a:ext cx="10134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SkillsHub turns unstructured resumes into a queryable talent graph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697480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then lets HR ask plain-English questions and streams back ranked, evidence-backed shortlists.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5501488" cy="1417320"/>
          </a:xfrm>
          <a:prstGeom prst="roundRect">
            <a:avLst>
              <a:gd name="adj" fmla="val 7742"/>
            </a:avLst>
          </a:prstGeom>
          <a:solidFill>
            <a:srgbClr val="1119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📄 → 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384048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→ Structured Profile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PDF. AI extracts skills, projects, proficiency, evidence quotes — plus inferred related skills (Next.js → React @ 98%) in one upload.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3008" y="3337560"/>
            <a:ext cx="5501488" cy="1417320"/>
          </a:xfrm>
          <a:prstGeom prst="roundRect">
            <a:avLst>
              <a:gd name="adj" fmla="val 7742"/>
            </a:avLst>
          </a:prstGeom>
          <a:solidFill>
            <a:srgbClr val="1119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7328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💬 → 🎯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07328" y="384048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→ Ranked Shortlist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07328" y="420624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real question. Results stream in card-by-card with match score, plain-English reasoning, and exact resume snippets as evidence.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983480"/>
            <a:ext cx="2072579" cy="1051560"/>
          </a:xfrm>
          <a:prstGeom prst="roundRect">
            <a:avLst>
              <a:gd name="adj" fmla="val 8696"/>
            </a:avLst>
          </a:prstGeom>
          <a:solidFill>
            <a:srgbClr val="1119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07492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" y="5440680"/>
            <a:ext cx="20725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5696712"/>
            <a:ext cx="18896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Resume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29779" y="4983480"/>
            <a:ext cx="228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758379" y="4983480"/>
            <a:ext cx="2072579" cy="1051560"/>
          </a:xfrm>
          <a:prstGeom prst="roundRect">
            <a:avLst>
              <a:gd name="adj" fmla="val 8696"/>
            </a:avLst>
          </a:prstGeom>
          <a:solidFill>
            <a:srgbClr val="1119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58379" y="507492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758379" y="5440680"/>
            <a:ext cx="20725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849819" y="5696712"/>
            <a:ext cx="18896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/ Gemini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30958" y="4983480"/>
            <a:ext cx="228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059558" y="4983480"/>
            <a:ext cx="2072579" cy="1051560"/>
          </a:xfrm>
          <a:prstGeom prst="roundRect">
            <a:avLst>
              <a:gd name="adj" fmla="val 8696"/>
            </a:avLst>
          </a:prstGeom>
          <a:solidFill>
            <a:srgbClr val="1119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59558" y="507492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059558" y="5440680"/>
            <a:ext cx="20725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Skills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50998" y="5696712"/>
            <a:ext cx="18896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@ ≥0.7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132137" y="4983480"/>
            <a:ext cx="228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360737" y="4983480"/>
            <a:ext cx="2072579" cy="1051560"/>
          </a:xfrm>
          <a:prstGeom prst="roundRect">
            <a:avLst>
              <a:gd name="adj" fmla="val 8696"/>
            </a:avLst>
          </a:prstGeom>
          <a:solidFill>
            <a:srgbClr val="1119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60737" y="507492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360737" y="5440680"/>
            <a:ext cx="20725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Review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452177" y="5696712"/>
            <a:ext cx="18896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Edit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433316" y="4983480"/>
            <a:ext cx="228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</a:rPr>
              <a:t>→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661916" y="4983480"/>
            <a:ext cx="2072579" cy="1051560"/>
          </a:xfrm>
          <a:prstGeom prst="roundRect">
            <a:avLst>
              <a:gd name="adj" fmla="val 8696"/>
            </a:avLst>
          </a:prstGeom>
          <a:solidFill>
            <a:srgbClr val="1119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61916" y="507492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661916" y="5440680"/>
            <a:ext cx="20725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Search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753356" y="5696712"/>
            <a:ext cx="18896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cards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430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Vector-Minds  •  Ketan Patil  •  SkillsHub AI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48095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Skills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6204A"/>
          </a:solidFill>
          <a:ln w="9525">
            <a:solidFill>
              <a:srgbClr val="243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8404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560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SkillsHub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20095" y="256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role experiences — built around the workflows each user actually does.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5455768" cy="4069080"/>
          </a:xfrm>
          <a:prstGeom prst="roundRect">
            <a:avLst>
              <a:gd name="adj" fmla="val 2697"/>
            </a:avLst>
          </a:prstGeom>
          <a:solidFill>
            <a:srgbClr val="1119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48840"/>
            <a:ext cx="5455768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488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👩‍💼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148840"/>
            <a:ext cx="3169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ADMIN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084168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power tools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2935224"/>
            <a:ext cx="320040" cy="320040"/>
          </a:xfrm>
          <a:prstGeom prst="ellipse">
            <a:avLst/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352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862072"/>
            <a:ext cx="467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Natural-Language Search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97280" y="3136392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ranked candidates, plain-English reasoning, evidence quotes.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483864"/>
            <a:ext cx="320040" cy="320040"/>
          </a:xfrm>
          <a:prstGeom prst="ellipse">
            <a:avLst/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4838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410712"/>
            <a:ext cx="467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Paste-a-JD Shortlist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97280" y="3685032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Distills a full JD into a hiring query, then ranks against the corpus.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4032504"/>
            <a:ext cx="320040" cy="320040"/>
          </a:xfrm>
          <a:prstGeom prst="ellipse">
            <a:avLst/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032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959352"/>
            <a:ext cx="467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Team Builder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97280" y="4233672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→ balanced team with role-on-team + rationale + alternates.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4581144"/>
            <a:ext cx="320040" cy="320040"/>
          </a:xfrm>
          <a:prstGeom prst="ellipse">
            <a:avLst/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581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🗂️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4507992"/>
            <a:ext cx="467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97280" y="4782312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profiles editable side-by-side with the AI output.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" y="5129784"/>
            <a:ext cx="320040" cy="320040"/>
          </a:xfrm>
          <a:prstGeom prst="ellipse">
            <a:avLst/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1297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👥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7280" y="5056632"/>
            <a:ext cx="467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Directory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97280" y="5330952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Skill, location, allocation, status — fast facet search.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" y="5678424"/>
            <a:ext cx="320040" cy="320040"/>
          </a:xfrm>
          <a:prstGeom prst="ellipse">
            <a:avLst/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678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📊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97280" y="5605272"/>
            <a:ext cx="467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Bulk Upload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97280" y="5879592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insights + HR-side bulk resume ingestion (SSE).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78728" y="2148840"/>
            <a:ext cx="5455768" cy="4069080"/>
          </a:xfrm>
          <a:prstGeom prst="roundRect">
            <a:avLst>
              <a:gd name="adj" fmla="val 2697"/>
            </a:avLst>
          </a:prstGeom>
          <a:solidFill>
            <a:srgbClr val="1119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78728" y="2148840"/>
            <a:ext cx="5455768" cy="6400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61608" y="21488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🧑‍💻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918808" y="2148840"/>
            <a:ext cx="3169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spc="100" kern="0" dirty="0">
                <a:solidFill>
                  <a:srgbClr val="0B1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9905695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B1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07328" y="2935224"/>
            <a:ext cx="320040" cy="32004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07328" y="29352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📤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18808" y="2862072"/>
            <a:ext cx="467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Drag-&amp;-Drop Resume Upload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918808" y="3136392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≤5 MB, 4-step animated extraction progress.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507328" y="3483864"/>
            <a:ext cx="320040" cy="32004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07328" y="34838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🧠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918808" y="3410712"/>
            <a:ext cx="467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 Extraction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6918808" y="3685032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proficiency + evidence quote — generated in seconds.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507328" y="4032504"/>
            <a:ext cx="320040" cy="32004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07328" y="4032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✨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918808" y="3959352"/>
            <a:ext cx="467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Related Skills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6918808" y="4233672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Auto-suggested skills with confidence % and a one-line reason.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507328" y="4581144"/>
            <a:ext cx="320040" cy="32004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07328" y="4581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📝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918808" y="4507992"/>
            <a:ext cx="467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Profile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6918808" y="4782312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anything the AI got wrong; flag for re-review.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507328" y="5129784"/>
            <a:ext cx="320040" cy="32004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07328" y="51297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📁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918808" y="5056632"/>
            <a:ext cx="467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Tech Stack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6918808" y="5330952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history with start/end dates, role, domain.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507328" y="5678424"/>
            <a:ext cx="320040" cy="32004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07328" y="5678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📈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918808" y="5605272"/>
            <a:ext cx="467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Completeness Meter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6918808" y="5879592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nudge to keep the profile search-ready.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4306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Vector-Minds  •  Ketan Patil  •  SkillsHub AI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248095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Skills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6204A"/>
          </a:solidFill>
          <a:ln w="9525">
            <a:solidFill>
              <a:srgbClr val="243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8404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560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SkillsHub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20095" y="256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Ingestion Pipeline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in. Structured, evidence-backed profile out — in ~6 seconds.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1765249" cy="1371600"/>
          </a:xfrm>
          <a:prstGeom prst="roundRect">
            <a:avLst>
              <a:gd name="adj" fmla="val 6667"/>
            </a:avLst>
          </a:prstGeom>
          <a:solidFill>
            <a:srgbClr val="1119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8657" y="2331720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8657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2788920"/>
            <a:ext cx="1673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063240"/>
            <a:ext cx="16738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+ pdfplumber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273552"/>
            <a:ext cx="16738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 MB, application/pdf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22449" y="2194560"/>
            <a:ext cx="137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359609" y="2194560"/>
            <a:ext cx="1765249" cy="1371600"/>
          </a:xfrm>
          <a:prstGeom prst="roundRect">
            <a:avLst>
              <a:gd name="adj" fmla="val 6667"/>
            </a:avLst>
          </a:prstGeom>
          <a:solidFill>
            <a:srgbClr val="1119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41066" y="2331720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41066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405329" y="2788920"/>
            <a:ext cx="1673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Text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05329" y="3063240"/>
            <a:ext cx="16738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≥80 chars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05329" y="3273552"/>
            <a:ext cx="16738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else: scanned-image error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24858" y="2194560"/>
            <a:ext cx="137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62018" y="2194560"/>
            <a:ext cx="1765249" cy="1371600"/>
          </a:xfrm>
          <a:prstGeom prst="roundRect">
            <a:avLst>
              <a:gd name="adj" fmla="val 6667"/>
            </a:avLst>
          </a:prstGeom>
          <a:solidFill>
            <a:srgbClr val="1119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43475" y="2331720"/>
            <a:ext cx="402336" cy="40233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43475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07738" y="2788920"/>
            <a:ext cx="1673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07738" y="3063240"/>
            <a:ext cx="16738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Qwen2.5-72B → Mistral-L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07738" y="3273552"/>
            <a:ext cx="16738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schema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27268" y="2194560"/>
            <a:ext cx="137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▶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64428" y="2194560"/>
            <a:ext cx="1765249" cy="1371600"/>
          </a:xfrm>
          <a:prstGeom prst="roundRect">
            <a:avLst>
              <a:gd name="adj" fmla="val 6667"/>
            </a:avLst>
          </a:prstGeom>
          <a:solidFill>
            <a:srgbClr val="1119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45884" y="233172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5884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10148" y="2788920"/>
            <a:ext cx="1673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Inference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0148" y="3063240"/>
            <a:ext cx="16738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 / Gemini-Flash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0148" y="3273552"/>
            <a:ext cx="16738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 skills @ ≥0.70 conf.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929677" y="2194560"/>
            <a:ext cx="137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▶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066837" y="2194560"/>
            <a:ext cx="1765249" cy="1371600"/>
          </a:xfrm>
          <a:prstGeom prst="roundRect">
            <a:avLst>
              <a:gd name="adj" fmla="val 6667"/>
            </a:avLst>
          </a:prstGeom>
          <a:solidFill>
            <a:srgbClr val="1119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48293" y="2331720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48293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112557" y="2788920"/>
            <a:ext cx="1673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+ Audit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112557" y="3063240"/>
            <a:ext cx="16738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raw_JSON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12557" y="3273552"/>
            <a:ext cx="16738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→ Supabase Storage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832086" y="2194560"/>
            <a:ext cx="137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▶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969246" y="2194560"/>
            <a:ext cx="1765249" cy="1371600"/>
          </a:xfrm>
          <a:prstGeom prst="roundRect">
            <a:avLst>
              <a:gd name="adj" fmla="val 6667"/>
            </a:avLst>
          </a:prstGeom>
          <a:solidFill>
            <a:srgbClr val="11193A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650703" y="2331720"/>
            <a:ext cx="402336" cy="40233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50703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014966" y="2788920"/>
            <a:ext cx="1673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014966" y="3063240"/>
            <a:ext cx="16738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HR approve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014966" y="3273552"/>
            <a:ext cx="16738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searchable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3886200"/>
            <a:ext cx="4869043" cy="2331720"/>
          </a:xfrm>
          <a:prstGeom prst="roundRect">
            <a:avLst>
              <a:gd name="adj" fmla="val 3922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" y="4050792"/>
            <a:ext cx="44118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What the AI returns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31520" y="4480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2148840" y="4480560"/>
            <a:ext cx="2948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• category • proficiency • years • evidence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1520" y="48097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2148840" y="4809744"/>
            <a:ext cx="2948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• role • domain • dates • tech stack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31520" y="51389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&amp; Loc.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2148840" y="5138928"/>
            <a:ext cx="2948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full_name • headline • location • yrs_experience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31520" y="54681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Skills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2148840" y="5468112"/>
            <a:ext cx="2948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• confidence (0.70-1.00) • reason • is_inferred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31520" y="57972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blob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2148840" y="5797296"/>
            <a:ext cx="2948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raw_extracted_json kept on the employee row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554843" y="3886200"/>
            <a:ext cx="2975526" cy="2331720"/>
          </a:xfrm>
          <a:prstGeom prst="roundRect">
            <a:avLst>
              <a:gd name="adj" fmla="val 3922"/>
            </a:avLst>
          </a:prstGeom>
          <a:solidFill>
            <a:srgbClr val="11193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83443" y="4050792"/>
            <a:ext cx="25183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AI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5783443" y="4480560"/>
            <a:ext cx="251832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reads each PDF manually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skill names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work is impossible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resume — not seconds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 past a small team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758969" y="3886200"/>
            <a:ext cx="2975526" cy="2331720"/>
          </a:xfrm>
          <a:prstGeom prst="roundRect">
            <a:avLst>
              <a:gd name="adj" fmla="val 3922"/>
            </a:avLst>
          </a:prstGeom>
          <a:solidFill>
            <a:srgbClr val="1119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87569" y="4050792"/>
            <a:ext cx="25183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SkillsHub AI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8987569" y="4480560"/>
            <a:ext cx="251832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profile in ~6 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skill taxonomy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Auto-inferred related skills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carries evidence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is the reviewer, not the parser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4306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Vector-Minds  •  Ketan Patil  •  SkillsHub AI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248095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Skills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6204A"/>
          </a:solidFill>
          <a:ln w="9525">
            <a:solidFill>
              <a:srgbClr val="243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8404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560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SkillsHub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20095" y="256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AI Search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question in, ranked &amp; reasoned candidates streaming out.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1277295" cy="594360"/>
          </a:xfrm>
          <a:prstGeom prst="roundRect">
            <a:avLst>
              <a:gd name="adj" fmla="val 49231"/>
            </a:avLst>
          </a:prstGeom>
          <a:solidFill>
            <a:srgbClr val="1119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240280"/>
            <a:ext cx="411480" cy="41148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🔎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148840"/>
            <a:ext cx="8534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me a backend dev in Pune with 3+ years of Java and payment-gateway experience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134295" y="225856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34295" y="2258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 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109155" cy="868680"/>
          </a:xfrm>
          <a:prstGeom prst="roundRect">
            <a:avLst>
              <a:gd name="adj" fmla="val 10526"/>
            </a:avLst>
          </a:prstGeom>
          <a:solidFill>
            <a:srgbClr val="1119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99232"/>
            <a:ext cx="1926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273552"/>
            <a:ext cx="1926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from HR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6355" y="292608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9235" y="2926080"/>
            <a:ext cx="2109155" cy="868680"/>
          </a:xfrm>
          <a:prstGeom prst="roundRect">
            <a:avLst>
              <a:gd name="adj" fmla="val 10526"/>
            </a:avLst>
          </a:prstGeom>
          <a:solidFill>
            <a:srgbClr val="1119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40675" y="2999232"/>
            <a:ext cx="1926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40675" y="3273552"/>
            <a:ext cx="1926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payment gateway → Razorpay/Stripe/PayU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58390" y="292608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41270" y="2926080"/>
            <a:ext cx="2109155" cy="868680"/>
          </a:xfrm>
          <a:prstGeom prst="roundRect">
            <a:avLst>
              <a:gd name="adj" fmla="val 10526"/>
            </a:avLst>
          </a:prstGeom>
          <a:solidFill>
            <a:srgbClr val="1119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2710" y="2999232"/>
            <a:ext cx="1926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32710" y="3273552"/>
            <a:ext cx="1926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projects + temporal context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50425" y="292608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33305" y="2926080"/>
            <a:ext cx="2109155" cy="868680"/>
          </a:xfrm>
          <a:prstGeom prst="roundRect">
            <a:avLst>
              <a:gd name="adj" fmla="val 10526"/>
            </a:avLst>
          </a:prstGeom>
          <a:solidFill>
            <a:srgbClr val="1119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24745" y="2999232"/>
            <a:ext cx="1926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(0–100)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24745" y="3273552"/>
            <a:ext cx="1926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• matched_skills • evidence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442460" y="292608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625340" y="2926080"/>
            <a:ext cx="2109155" cy="868680"/>
          </a:xfrm>
          <a:prstGeom prst="roundRect">
            <a:avLst>
              <a:gd name="adj" fmla="val 10526"/>
            </a:avLst>
          </a:prstGeom>
          <a:solidFill>
            <a:srgbClr val="1119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16780" y="2999232"/>
            <a:ext cx="1926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716780" y="3273552"/>
            <a:ext cx="1926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→ cards arrive one at a time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023360"/>
            <a:ext cx="6400800" cy="2194560"/>
          </a:xfrm>
          <a:prstGeom prst="roundRect">
            <a:avLst>
              <a:gd name="adj" fmla="val 5000"/>
            </a:avLst>
          </a:prstGeom>
          <a:solidFill>
            <a:srgbClr val="1119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4389120"/>
            <a:ext cx="1005840" cy="1005840"/>
          </a:xfrm>
          <a:prstGeom prst="ellipse">
            <a:avLst/>
          </a:prstGeom>
          <a:solidFill>
            <a:srgbClr val="0B1224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389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1874520" y="4297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Kulkarni — Senior Backend Engineer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874520" y="4663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Pune  •  🕓 8 yrs  •  🟢 UNALLOCATED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874520" y="49834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“8 years building Spring Boot services. Architected the Razorpay integration serving 2M+ monthly transactions. Currently UNALLOCATED.”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874520" y="5715000"/>
            <a:ext cx="649224" cy="320040"/>
          </a:xfrm>
          <a:prstGeom prst="roundRect">
            <a:avLst>
              <a:gd name="adj" fmla="val 48571"/>
            </a:avLst>
          </a:prstGeom>
          <a:solidFill>
            <a:srgbClr val="16204A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74520" y="5715000"/>
            <a:ext cx="64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615184" y="5715000"/>
            <a:ext cx="1225296" cy="320040"/>
          </a:xfrm>
          <a:prstGeom prst="roundRect">
            <a:avLst>
              <a:gd name="adj" fmla="val 48571"/>
            </a:avLst>
          </a:prstGeom>
          <a:solidFill>
            <a:srgbClr val="16204A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15184" y="571500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931920" y="5715000"/>
            <a:ext cx="978408" cy="320040"/>
          </a:xfrm>
          <a:prstGeom prst="roundRect">
            <a:avLst>
              <a:gd name="adj" fmla="val 48571"/>
            </a:avLst>
          </a:prstGeom>
          <a:solidFill>
            <a:srgbClr val="16204A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0" y="5715000"/>
            <a:ext cx="978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01768" y="5715000"/>
            <a:ext cx="1143000" cy="320040"/>
          </a:xfrm>
          <a:prstGeom prst="roundRect">
            <a:avLst>
              <a:gd name="adj" fmla="val 48571"/>
            </a:avLst>
          </a:prstGeom>
          <a:solidFill>
            <a:srgbClr val="16204A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01768" y="57150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223760" y="4023360"/>
            <a:ext cx="4510735" cy="2194560"/>
          </a:xfrm>
          <a:prstGeom prst="roundRect">
            <a:avLst>
              <a:gd name="adj" fmla="val 5000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06640" y="4133088"/>
            <a:ext cx="4144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 vs.  Semantic AI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406640" y="4480560"/>
            <a:ext cx="1280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“payment gateway”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686800" y="4480560"/>
            <a:ext cx="141732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Razorpay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149840" y="4480560"/>
            <a:ext cx="1493215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Razorpay, Stripe, PayU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406640" y="4903470"/>
            <a:ext cx="1280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“real-time”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686800" y="4903470"/>
            <a:ext cx="141732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WebSocket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0149840" y="4903470"/>
            <a:ext cx="1493215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WebSocket, WebRTC, SSE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406640" y="5326380"/>
            <a:ext cx="1280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“ML”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686800" y="5326380"/>
            <a:ext cx="141732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PyTorch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0149840" y="5326380"/>
            <a:ext cx="1493215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TensorFlow, LangChain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406640" y="5749290"/>
            <a:ext cx="128016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686800" y="5749290"/>
            <a:ext cx="141732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concept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0149840" y="5749290"/>
            <a:ext cx="1493215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temporal context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4306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Vector-Minds  •  Ketan Patil  •  SkillsHub AI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248095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Skills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6204A"/>
          </a:solidFill>
          <a:ln w="9525">
            <a:solidFill>
              <a:srgbClr val="243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8404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560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SkillsHub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20095" y="256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&amp; Inference APIs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stack. HuggingFace Inference primary, Gemini auto-fallback.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2109155" cy="960120"/>
          </a:xfrm>
          <a:prstGeom prst="roundRect">
            <a:avLst>
              <a:gd name="adj" fmla="val 9524"/>
            </a:avLst>
          </a:prstGeom>
          <a:solidFill>
            <a:srgbClr val="1119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21992"/>
            <a:ext cx="21091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2715768"/>
            <a:ext cx="19262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prompt files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9235" y="2148840"/>
            <a:ext cx="2109155" cy="960120"/>
          </a:xfrm>
          <a:prstGeom prst="roundRect">
            <a:avLst>
              <a:gd name="adj" fmla="val 9524"/>
            </a:avLst>
          </a:prstGeom>
          <a:solidFill>
            <a:srgbClr val="1119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9235" y="2221992"/>
            <a:ext cx="21091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840675" y="2715768"/>
            <a:ext cx="19262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 (HF + Google)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41270" y="2148840"/>
            <a:ext cx="2109155" cy="960120"/>
          </a:xfrm>
          <a:prstGeom prst="roundRect">
            <a:avLst>
              <a:gd name="adj" fmla="val 9524"/>
            </a:avLst>
          </a:prstGeom>
          <a:solidFill>
            <a:srgbClr val="1119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1270" y="2221992"/>
            <a:ext cx="21091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132710" y="2715768"/>
            <a:ext cx="19262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models routed by task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33305" y="2148840"/>
            <a:ext cx="2109155" cy="960120"/>
          </a:xfrm>
          <a:prstGeom prst="roundRect">
            <a:avLst>
              <a:gd name="adj" fmla="val 9524"/>
            </a:avLst>
          </a:prstGeom>
          <a:solidFill>
            <a:srgbClr val="1119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33305" y="2221992"/>
            <a:ext cx="21091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424745" y="2715768"/>
            <a:ext cx="19262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resume extraction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25340" y="2148840"/>
            <a:ext cx="2109155" cy="960120"/>
          </a:xfrm>
          <a:prstGeom prst="roundRect">
            <a:avLst>
              <a:gd name="adj" fmla="val 9524"/>
            </a:avLst>
          </a:prstGeom>
          <a:solidFill>
            <a:srgbClr val="1119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25340" y="2221992"/>
            <a:ext cx="21091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~2s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716780" y="2715768"/>
            <a:ext cx="19262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search card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11277295" cy="2194560"/>
          </a:xfrm>
          <a:prstGeom prst="roundRect">
            <a:avLst>
              <a:gd name="adj" fmla="val 4167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API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3337560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685032"/>
            <a:ext cx="11094415" cy="0"/>
          </a:xfrm>
          <a:prstGeom prst="line">
            <a:avLst/>
          </a:prstGeom>
          <a:noFill/>
          <a:ln w="9525">
            <a:solidFill>
              <a:srgbClr val="2430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49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Qwen2.5-72B-Instruct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0352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extraction (primary)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503920" y="374904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 structured JSON for long resumes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023360"/>
            <a:ext cx="11094415" cy="274320"/>
          </a:xfrm>
          <a:prstGeom prst="rect">
            <a:avLst/>
          </a:prstGeom>
          <a:solidFill>
            <a:srgbClr val="16204A">
              <a:alpha val="50000"/>
            </a:srgbClr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023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Mistral-Large-Instruct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7472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0352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extraction (fallback)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503920" y="402336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when Qwen rate-limits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4297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Llama-3.1-8B-Instruct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47472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0352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/ JD-distill / search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503920" y="429768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good for short tasks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4572000"/>
            <a:ext cx="11094415" cy="274320"/>
          </a:xfrm>
          <a:prstGeom prst="rect">
            <a:avLst/>
          </a:prstGeom>
          <a:solidFill>
            <a:srgbClr val="16204A">
              <a:alpha val="50000"/>
            </a:srgbClr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572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gemini-2.5-pro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47472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GenAI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0352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Showcase: extraction + ranking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503920" y="457200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reasoning when HF errors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48640" y="4846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47472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GenAI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303520" y="4846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Light: inference + JD distill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503920" y="484632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fast, deterministic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8640" y="5120640"/>
            <a:ext cx="11094415" cy="274320"/>
          </a:xfrm>
          <a:prstGeom prst="rect">
            <a:avLst/>
          </a:prstGeom>
          <a:solidFill>
            <a:srgbClr val="16204A">
              <a:alpha val="50000"/>
            </a:srgbClr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5120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/ keyword baseline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474720" y="5120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303520" y="5120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prototype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503920" y="512064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semantic mapping, dropped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57200" y="5577840"/>
            <a:ext cx="5501488" cy="777240"/>
          </a:xfrm>
          <a:prstGeom prst="roundRect">
            <a:avLst>
              <a:gd name="adj" fmla="val 11765"/>
            </a:avLst>
          </a:prstGeom>
          <a:solidFill>
            <a:srgbClr val="11193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5623560"/>
            <a:ext cx="513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What did NOT work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40080" y="589788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Single-provider lock-in (Gemini-only) broke on free-tier 429. Keyword/BM25 had no synonym sense; LLM call dominates cost anyway.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233008" y="5577840"/>
            <a:ext cx="5501488" cy="777240"/>
          </a:xfrm>
          <a:prstGeom prst="roundRect">
            <a:avLst>
              <a:gd name="adj" fmla="val 11765"/>
            </a:avLst>
          </a:prstGeom>
          <a:solidFill>
            <a:srgbClr val="1119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15888" y="5623560"/>
            <a:ext cx="513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How we fixed it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415888" y="589788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HF-first with Gemini auto-fallback (_call_ai orchestrator). Versioned prompts, JSON-mode + safe_json_loads for tolerant parsing.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4306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Vector-Minds  •  Ketan Patil  •  SkillsHub AI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248095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Skills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6204A"/>
          </a:solidFill>
          <a:ln w="9525">
            <a:solidFill>
              <a:srgbClr val="243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8404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560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SkillsHub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20095" y="256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 Stack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Streaming-first, async, multi-provider AI — production-shaped where it counts.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11277295" cy="1280160"/>
          </a:xfrm>
          <a:prstGeom prst="roundRect">
            <a:avLst>
              <a:gd name="adj" fmla="val 8571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94560"/>
            <a:ext cx="109728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487168"/>
            <a:ext cx="685800" cy="68580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2359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App Router (Vercel-ready)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• Tailwind • shadcn/ui • Framer Motion • TanStack Query • Zod • Edge middleware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175443" y="2359152"/>
            <a:ext cx="1376172" cy="365760"/>
          </a:xfrm>
          <a:prstGeom prst="roundRect">
            <a:avLst>
              <a:gd name="adj" fmla="val 50000"/>
            </a:avLst>
          </a:prstGeom>
          <a:solidFill>
            <a:srgbClr val="16204A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75443" y="2359152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18727" y="2359152"/>
            <a:ext cx="1065276" cy="365760"/>
          </a:xfrm>
          <a:prstGeom prst="roundRect">
            <a:avLst>
              <a:gd name="adj" fmla="val 50000"/>
            </a:avLst>
          </a:prstGeom>
          <a:solidFill>
            <a:srgbClr val="16204A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18727" y="2359152"/>
            <a:ext cx="1065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39735" y="2359152"/>
            <a:ext cx="987552" cy="365760"/>
          </a:xfrm>
          <a:prstGeom prst="roundRect">
            <a:avLst>
              <a:gd name="adj" fmla="val 50000"/>
            </a:avLst>
          </a:prstGeom>
          <a:solidFill>
            <a:srgbClr val="16204A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39735" y="2359152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05295" y="2359152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6204A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05295" y="235915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70855" y="2359152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6204A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70855" y="235915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639312"/>
            <a:ext cx="11277295" cy="1280160"/>
          </a:xfrm>
          <a:prstGeom prst="roundRect">
            <a:avLst>
              <a:gd name="adj" fmla="val 8571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639312"/>
            <a:ext cx="109728" cy="1280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3931920"/>
            <a:ext cx="685800" cy="685800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600200" y="38039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00200" y="4187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(async) + SQLAlchemy 2 (asyncpg)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600200" y="4507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endpoints  •  SSE streaming  •  JWT (HS256, bcrypt)  •  Alembic migrations  •  rate-limit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952683" y="3803904"/>
            <a:ext cx="598932" cy="365760"/>
          </a:xfrm>
          <a:prstGeom prst="roundRect">
            <a:avLst>
              <a:gd name="adj" fmla="val 50000"/>
            </a:avLst>
          </a:prstGeom>
          <a:solidFill>
            <a:srgbClr val="16204A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52683" y="3803904"/>
            <a:ext cx="5989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262311" y="3803904"/>
            <a:ext cx="598932" cy="365760"/>
          </a:xfrm>
          <a:prstGeom prst="roundRect">
            <a:avLst>
              <a:gd name="adj" fmla="val 50000"/>
            </a:avLst>
          </a:prstGeom>
          <a:solidFill>
            <a:srgbClr val="16204A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62311" y="3803904"/>
            <a:ext cx="5989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261043" y="3803904"/>
            <a:ext cx="909828" cy="365760"/>
          </a:xfrm>
          <a:prstGeom prst="roundRect">
            <a:avLst>
              <a:gd name="adj" fmla="val 50000"/>
            </a:avLst>
          </a:prstGeom>
          <a:solidFill>
            <a:srgbClr val="16204A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61043" y="3803904"/>
            <a:ext cx="909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asyncpg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871155" y="3803904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16204A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71155" y="3803904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3543" y="3803904"/>
            <a:ext cx="1376172" cy="365760"/>
          </a:xfrm>
          <a:prstGeom prst="roundRect">
            <a:avLst>
              <a:gd name="adj" fmla="val 50000"/>
            </a:avLst>
          </a:prstGeom>
          <a:solidFill>
            <a:srgbClr val="16204A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3543" y="3803904"/>
            <a:ext cx="137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0.115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5084064"/>
            <a:ext cx="11277295" cy="1280160"/>
          </a:xfrm>
          <a:prstGeom prst="roundRect">
            <a:avLst>
              <a:gd name="adj" fmla="val 8571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5084064"/>
            <a:ext cx="109728" cy="128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7240" y="5376672"/>
            <a:ext cx="685800" cy="685800"/>
          </a:xfrm>
          <a:prstGeom prst="ellipse">
            <a:avLst/>
          </a:prstGeom>
          <a:solidFill>
            <a:srgbClr val="22D3EE">
              <a:alpha val="2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53766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1600200" y="5248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600200" y="5632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+ Supabase Storage + AI providers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600200" y="59527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Inference (Qwen / Mistral / Llama)  +  Google Gemini 2.5-pro / flash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408615" y="5248656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6204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408615" y="524865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096451" y="5248656"/>
            <a:ext cx="1220724" cy="365760"/>
          </a:xfrm>
          <a:prstGeom prst="roundRect">
            <a:avLst>
              <a:gd name="adj" fmla="val 50000"/>
            </a:avLst>
          </a:prstGeom>
          <a:solidFill>
            <a:srgbClr val="16204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96451" y="5248656"/>
            <a:ext cx="122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395667" y="5248656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16204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95667" y="524865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617159" y="5248656"/>
            <a:ext cx="1687068" cy="365760"/>
          </a:xfrm>
          <a:prstGeom prst="roundRect">
            <a:avLst>
              <a:gd name="adj" fmla="val 50000"/>
            </a:avLst>
          </a:prstGeom>
          <a:solidFill>
            <a:srgbClr val="16204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17159" y="5248656"/>
            <a:ext cx="1687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4306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Vector-Minds  •  Ketan Patil  •  SkillsHub AI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248095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Skills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6204A"/>
          </a:solidFill>
          <a:ln w="9525">
            <a:solidFill>
              <a:srgbClr val="243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8404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560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SkillsHub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20095" y="256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we hit on the way to a working demo — and how we shipped through them.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5547208" cy="880110"/>
          </a:xfrm>
          <a:prstGeom prst="roundRect">
            <a:avLst>
              <a:gd name="adj" fmla="val 10390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48840"/>
            <a:ext cx="91440" cy="88011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267712"/>
            <a:ext cx="347472" cy="347472"/>
          </a:xfrm>
          <a:prstGeom prst="ellipse">
            <a:avLst/>
          </a:prstGeom>
          <a:solidFill>
            <a:srgbClr val="EF4444">
              <a:alpha val="25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⏱️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0432" y="2240280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free-tier 429s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2651760"/>
            <a:ext cx="5181448" cy="0"/>
          </a:xfrm>
          <a:prstGeom prst="line">
            <a:avLst/>
          </a:prstGeom>
          <a:noFill/>
          <a:ln w="6350">
            <a:solidFill>
              <a:srgbClr val="2430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697480"/>
            <a:ext cx="252214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could die on a single rate-limit at the worst moment.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45104" y="2697480"/>
            <a:ext cx="252214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algn="l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HF-first orchestrator (_call_ai) auto-falls back to Gemini.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87288" y="2148840"/>
            <a:ext cx="5547208" cy="880110"/>
          </a:xfrm>
          <a:prstGeom prst="roundRect">
            <a:avLst>
              <a:gd name="adj" fmla="val 10390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7288" y="2148840"/>
            <a:ext cx="91440" cy="88011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3320" y="2267712"/>
            <a:ext cx="347472" cy="347472"/>
          </a:xfrm>
          <a:prstGeom prst="ellipse">
            <a:avLst/>
          </a:prstGeom>
          <a:solidFill>
            <a:srgbClr val="F59E0B">
              <a:alpha val="25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3320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0520" y="2240280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JSON is fragile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15888" y="2651760"/>
            <a:ext cx="5181448" cy="0"/>
          </a:xfrm>
          <a:prstGeom prst="line">
            <a:avLst/>
          </a:prstGeom>
          <a:noFill/>
          <a:ln w="6350">
            <a:solidFill>
              <a:srgbClr val="2430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5888" y="2697480"/>
            <a:ext cx="252214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emits bytes, not whole objects — brace counting needed.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075191" y="2697480"/>
            <a:ext cx="252214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algn="l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_iter_complete_objects walks brace depth + string state.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211830"/>
            <a:ext cx="5547208" cy="880110"/>
          </a:xfrm>
          <a:prstGeom prst="roundRect">
            <a:avLst>
              <a:gd name="adj" fmla="val 10390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211830"/>
            <a:ext cx="91440" cy="88011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3330702"/>
            <a:ext cx="347472" cy="347472"/>
          </a:xfrm>
          <a:prstGeom prst="ellipse">
            <a:avLst/>
          </a:prstGeom>
          <a:solidFill>
            <a:srgbClr val="A78BFA">
              <a:alpha val="25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333070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70432" y="3303270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 risk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85800" y="3714750"/>
            <a:ext cx="5181448" cy="0"/>
          </a:xfrm>
          <a:prstGeom prst="line">
            <a:avLst/>
          </a:prstGeom>
          <a:noFill/>
          <a:ln w="6350">
            <a:solidFill>
              <a:srgbClr val="2430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760470"/>
            <a:ext cx="252214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might invent skills that aren't in the resume.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45104" y="3760470"/>
            <a:ext cx="252214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algn="l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requires evidence quote (≤180 ch) per skill.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87288" y="3211830"/>
            <a:ext cx="5547208" cy="880110"/>
          </a:xfrm>
          <a:prstGeom prst="roundRect">
            <a:avLst>
              <a:gd name="adj" fmla="val 10390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87288" y="3211830"/>
            <a:ext cx="91440" cy="88011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3320" y="3330702"/>
            <a:ext cx="347472" cy="347472"/>
          </a:xfrm>
          <a:prstGeom prst="ellipse">
            <a:avLst/>
          </a:prstGeom>
          <a:solidFill>
            <a:srgbClr val="3B82F6">
              <a:alpha val="25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3320" y="333070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🔄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00520" y="3303270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fences in JSON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15888" y="3714750"/>
            <a:ext cx="5181448" cy="0"/>
          </a:xfrm>
          <a:prstGeom prst="line">
            <a:avLst/>
          </a:prstGeom>
          <a:noFill/>
          <a:ln w="6350">
            <a:solidFill>
              <a:srgbClr val="2430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5888" y="3760470"/>
            <a:ext cx="252214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occasionally wraps output in triple-backtick json blocks.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075191" y="3760470"/>
            <a:ext cx="252214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algn="l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safe_json_loads strips fences and json labels.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4274820"/>
            <a:ext cx="5547208" cy="880110"/>
          </a:xfrm>
          <a:prstGeom prst="roundRect">
            <a:avLst>
              <a:gd name="adj" fmla="val 10390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274820"/>
            <a:ext cx="91440" cy="88011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3232" y="4393692"/>
            <a:ext cx="347472" cy="347472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43936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🗓️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70432" y="4366260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queries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85800" y="4777740"/>
            <a:ext cx="5181448" cy="0"/>
          </a:xfrm>
          <a:prstGeom prst="line">
            <a:avLst/>
          </a:prstGeom>
          <a:noFill/>
          <a:ln w="6350">
            <a:solidFill>
              <a:srgbClr val="2430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4823460"/>
            <a:ext cx="252214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'Last quarter' / 'this month' kept hallucinating dates.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345104" y="4823460"/>
            <a:ext cx="252214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algn="l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CONTEXT block + days_since_last_project_end.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87288" y="4274820"/>
            <a:ext cx="5547208" cy="880110"/>
          </a:xfrm>
          <a:prstGeom prst="roundRect">
            <a:avLst>
              <a:gd name="adj" fmla="val 10390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87288" y="4274820"/>
            <a:ext cx="91440" cy="88011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43320" y="4393692"/>
            <a:ext cx="347472" cy="347472"/>
          </a:xfrm>
          <a:prstGeom prst="ellipse">
            <a:avLst/>
          </a:prstGeom>
          <a:solidFill>
            <a:srgbClr val="F472B6">
              <a:alpha val="25000"/>
            </a:srgbClr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3320" y="43936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📄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900520" y="4366260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(image-only) PDFs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6415888" y="4777740"/>
            <a:ext cx="5181448" cy="0"/>
          </a:xfrm>
          <a:prstGeom prst="line">
            <a:avLst/>
          </a:prstGeom>
          <a:noFill/>
          <a:ln w="6350">
            <a:solidFill>
              <a:srgbClr val="24306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15888" y="4823460"/>
            <a:ext cx="252214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returns empty text → silent failure path.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075191" y="4823460"/>
            <a:ext cx="252214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algn="l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≥80 chars; clear toast: 'is this a scanned image?'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5337810"/>
            <a:ext cx="5547208" cy="880110"/>
          </a:xfrm>
          <a:prstGeom prst="roundRect">
            <a:avLst>
              <a:gd name="adj" fmla="val 10390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5337810"/>
            <a:ext cx="91440" cy="88011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3232" y="5456682"/>
            <a:ext cx="347472" cy="347472"/>
          </a:xfrm>
          <a:prstGeom prst="ellipse">
            <a:avLst/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3232" y="545668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🧠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170432" y="5429250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inferred skills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685800" y="5840730"/>
            <a:ext cx="5181448" cy="0"/>
          </a:xfrm>
          <a:prstGeom prst="line">
            <a:avLst/>
          </a:prstGeom>
          <a:noFill/>
          <a:ln w="6350">
            <a:solidFill>
              <a:srgbClr val="24306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5800" y="5886450"/>
            <a:ext cx="252214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re-suggested skills already on the resume.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3345104" y="5886450"/>
            <a:ext cx="252214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algn="l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dedup vs explicit names; confidence ≥ 0.70 floor.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187288" y="5337810"/>
            <a:ext cx="5547208" cy="880110"/>
          </a:xfrm>
          <a:prstGeom prst="roundRect">
            <a:avLst>
              <a:gd name="adj" fmla="val 10390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87288" y="5337810"/>
            <a:ext cx="91440" cy="88011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3320" y="5456682"/>
            <a:ext cx="347472" cy="347472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3320" y="545668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🚦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900520" y="5429250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auth UX vs security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6415888" y="5840730"/>
            <a:ext cx="5181448" cy="0"/>
          </a:xfrm>
          <a:prstGeom prst="line">
            <a:avLst/>
          </a:prstGeom>
          <a:noFill/>
          <a:ln w="6350">
            <a:solidFill>
              <a:srgbClr val="24306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15888" y="5886450"/>
            <a:ext cx="252214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in localStorage breaks middleware role routing.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9075191" y="5886450"/>
            <a:ext cx="252214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algn="l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non-HttpOnly cookie for edge; backend always re-verifies.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4306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Vector-Minds  •  Ketan Patil  •  SkillsHub AI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248095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Skills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6204A"/>
          </a:solidFill>
          <a:ln w="9525">
            <a:solidFill>
              <a:srgbClr val="243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8404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560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SkillsHub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20095" y="256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Future Scope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one-week scramble to a one-question answer — and the roadmap ahead.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2682164" cy="1417320"/>
          </a:xfrm>
          <a:prstGeom prst="roundRect">
            <a:avLst>
              <a:gd name="adj" fmla="val 6452"/>
            </a:avLst>
          </a:prstGeom>
          <a:solidFill>
            <a:srgbClr val="1119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58568"/>
            <a:ext cx="24078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lookup latency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0667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week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15402" y="2651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81162" y="2651760"/>
            <a:ext cx="10667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question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246120"/>
            <a:ext cx="2682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→  after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22244" y="2148840"/>
            <a:ext cx="2682164" cy="1417320"/>
          </a:xfrm>
          <a:prstGeom prst="roundRect">
            <a:avLst>
              <a:gd name="adj" fmla="val 6452"/>
            </a:avLst>
          </a:prstGeom>
          <a:solidFill>
            <a:srgbClr val="1119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9404" y="2258568"/>
            <a:ext cx="24078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→ profile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13684" y="2651760"/>
            <a:ext cx="10667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446" y="2651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206" y="2651760"/>
            <a:ext cx="10667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 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22244" y="3246120"/>
            <a:ext cx="2682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→  after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87288" y="2148840"/>
            <a:ext cx="2682164" cy="1417320"/>
          </a:xfrm>
          <a:prstGeom prst="roundRect">
            <a:avLst>
              <a:gd name="adj" fmla="val 6452"/>
            </a:avLst>
          </a:prstGeom>
          <a:solidFill>
            <a:srgbClr val="1119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4448" y="2258568"/>
            <a:ext cx="24078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with evidence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78728" y="2651760"/>
            <a:ext cx="10667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45490" y="2651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➜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711250" y="2651760"/>
            <a:ext cx="10667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87288" y="3246120"/>
            <a:ext cx="2682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→  after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052331" y="2148840"/>
            <a:ext cx="2682164" cy="1417320"/>
          </a:xfrm>
          <a:prstGeom prst="roundRect">
            <a:avLst>
              <a:gd name="adj" fmla="val 6452"/>
            </a:avLst>
          </a:prstGeom>
          <a:solidFill>
            <a:srgbClr val="1119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9491" y="2258568"/>
            <a:ext cx="24078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history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3771" y="2651760"/>
            <a:ext cx="10667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210533" y="2651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➜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576293" y="2651760"/>
            <a:ext cx="10667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52331" y="3246120"/>
            <a:ext cx="2682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→  after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749040"/>
            <a:ext cx="5501488" cy="2468880"/>
          </a:xfrm>
          <a:prstGeom prst="roundRect">
            <a:avLst>
              <a:gd name="adj" fmla="val 4444"/>
            </a:avLst>
          </a:prstGeom>
          <a:solidFill>
            <a:srgbClr val="1119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88720" y="3931920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77240" y="4526280"/>
            <a:ext cx="458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staffing decisions — minutes, not days.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utilisation up: past, untagged work is now searchable.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demand signal: every HR query logged for analysis.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guarantee — no AI output ships unreviewed.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boost: new joiners discover internal talent in one search.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33008" y="3749040"/>
            <a:ext cx="5501488" cy="2468880"/>
          </a:xfrm>
          <a:prstGeom prst="roundRect">
            <a:avLst>
              <a:gd name="adj" fmla="val 4444"/>
            </a:avLst>
          </a:prstGeom>
          <a:solidFill>
            <a:srgbClr val="1119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15888" y="3931920"/>
            <a:ext cx="457200" cy="45720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5888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964528" y="393192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(Phase 2+)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53048" y="4526280"/>
            <a:ext cx="50442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pre-filter (pgvector) once corpus passes ~1,000 profiles.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Capacity-aware Team Builder (calendar + allocation feed).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staffing &amp; skill-gap analytics on the audit log.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interview-question matcher + project recommendation.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(Google / Azure AD) + httpOnly cookie auth.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scanned PDFs (Tesseract / Google Vision).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430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Vector-Minds  •  Ketan Patil  •  SkillsHub AI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48095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Skills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6204A"/>
          </a:solidFill>
          <a:ln w="9525">
            <a:solidFill>
              <a:srgbClr val="243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8404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560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SkillsHub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20095" y="256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Flow  •  3 Minutes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486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judges see, in order. Every beat is a real, working endpoint.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45920" y="2331720"/>
            <a:ext cx="27432" cy="3703320"/>
          </a:xfrm>
          <a:prstGeom prst="rect">
            <a:avLst/>
          </a:prstGeom>
          <a:solidFill>
            <a:srgbClr val="243066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93185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 – 0:15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72768" y="2348049"/>
            <a:ext cx="182880" cy="18288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B12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65960" y="2194560"/>
            <a:ext cx="9768535" cy="444137"/>
          </a:xfrm>
          <a:prstGeom prst="roundRect">
            <a:avLst>
              <a:gd name="adj" fmla="val 16471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2210889"/>
            <a:ext cx="457200" cy="457200"/>
          </a:xfrm>
          <a:prstGeom prst="ellipse">
            <a:avLst/>
          </a:prstGeom>
          <a:solidFill>
            <a:srgbClr val="3B82F6">
              <a:alpha val="25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221088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2286000"/>
            <a:ext cx="8854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2532888"/>
            <a:ext cx="8854135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“Stop pinging 10 managers. Ask in plain English.”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87448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 – 0:50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72768" y="2929346"/>
            <a:ext cx="182880" cy="18288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B12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65960" y="2775857"/>
            <a:ext cx="9768535" cy="444137"/>
          </a:xfrm>
          <a:prstGeom prst="roundRect">
            <a:avLst>
              <a:gd name="adj" fmla="val 16471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03120" y="2792186"/>
            <a:ext cx="457200" cy="457200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279218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97480" y="2867297"/>
            <a:ext cx="8854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magic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97480" y="3114185"/>
            <a:ext cx="8854135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“Backend dev in Pune with 3 yrs Java + payment gateway.”  Watch ranked cards stream in with evidence.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455779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 – 1:20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572768" y="3510643"/>
            <a:ext cx="182880" cy="182880"/>
          </a:xfrm>
          <a:prstGeom prst="ellipse">
            <a:avLst/>
          </a:prstGeom>
          <a:solidFill>
            <a:srgbClr val="A78BFA"/>
          </a:solidFill>
          <a:ln w="25400">
            <a:solidFill>
              <a:srgbClr val="0B12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65960" y="3357154"/>
            <a:ext cx="9768535" cy="444137"/>
          </a:xfrm>
          <a:prstGeom prst="roundRect">
            <a:avLst>
              <a:gd name="adj" fmla="val 16471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03120" y="3373483"/>
            <a:ext cx="457200" cy="457200"/>
          </a:xfrm>
          <a:prstGeom prst="ellipse">
            <a:avLst/>
          </a:prstGeom>
          <a:solidFill>
            <a:srgbClr val="A78BFA">
              <a:alpha val="25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337348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697480" y="3448594"/>
            <a:ext cx="8854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reasoning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97480" y="3695482"/>
            <a:ext cx="8854135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“Frontend folks who haven't shipped this quarter.”  Day-counts cited in the reason — no date hallucination.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03707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 – 1:45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572768" y="4091940"/>
            <a:ext cx="182880" cy="1828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B12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65960" y="3938451"/>
            <a:ext cx="9768535" cy="444137"/>
          </a:xfrm>
          <a:prstGeom prst="roundRect">
            <a:avLst>
              <a:gd name="adj" fmla="val 16471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03120" y="3954780"/>
            <a:ext cx="457200" cy="457200"/>
          </a:xfrm>
          <a:prstGeom prst="ellipse">
            <a:avLst/>
          </a:prstGeom>
          <a:solidFill>
            <a:srgbClr val="F59E0B">
              <a:alpha val="25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697480" y="4029891"/>
            <a:ext cx="8854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Paste-a-JD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697480" y="4276779"/>
            <a:ext cx="8854135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5-line JD. Distilled query pill appears, then the same ranker runs.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4618373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 – 2:30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572768" y="4673237"/>
            <a:ext cx="182880" cy="182880"/>
          </a:xfrm>
          <a:prstGeom prst="ellipse">
            <a:avLst/>
          </a:prstGeom>
          <a:solidFill>
            <a:srgbClr val="F472B6"/>
          </a:solidFill>
          <a:ln w="25400">
            <a:solidFill>
              <a:srgbClr val="0B122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65960" y="4519749"/>
            <a:ext cx="9768535" cy="444137"/>
          </a:xfrm>
          <a:prstGeom prst="roundRect">
            <a:avLst>
              <a:gd name="adj" fmla="val 16471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03120" y="4536077"/>
            <a:ext cx="457200" cy="457200"/>
          </a:xfrm>
          <a:prstGeom prst="ellipse">
            <a:avLst/>
          </a:prstGeom>
          <a:solidFill>
            <a:srgbClr val="F472B6">
              <a:alpha val="25000"/>
            </a:srgbClr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03120" y="453607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2697480" y="4611189"/>
            <a:ext cx="8854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upload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697480" y="4858077"/>
            <a:ext cx="8854135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PDF. 4-step animated extraction. Inferred skills with confidence tooltip.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519967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 – 2:55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572768" y="5254534"/>
            <a:ext cx="182880" cy="18288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0B122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65960" y="5101046"/>
            <a:ext cx="9768535" cy="444137"/>
          </a:xfrm>
          <a:prstGeom prst="roundRect">
            <a:avLst>
              <a:gd name="adj" fmla="val 16471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103120" y="5117374"/>
            <a:ext cx="457200" cy="457200"/>
          </a:xfrm>
          <a:prstGeom prst="ellipse">
            <a:avLst/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03120" y="511737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2697480" y="5192486"/>
            <a:ext cx="8854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approves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2697480" y="5439374"/>
            <a:ext cx="8854135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 → Approve → new profile is instantly searchable.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57200" y="5780967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2:55 – 3:00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572768" y="5835831"/>
            <a:ext cx="182880" cy="182880"/>
          </a:xfrm>
          <a:prstGeom prst="ellipse">
            <a:avLst/>
          </a:prstGeom>
          <a:solidFill>
            <a:srgbClr val="60A5FA"/>
          </a:solidFill>
          <a:ln w="25400">
            <a:solidFill>
              <a:srgbClr val="0B122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65960" y="5682343"/>
            <a:ext cx="9768535" cy="444137"/>
          </a:xfrm>
          <a:prstGeom prst="roundRect">
            <a:avLst>
              <a:gd name="adj" fmla="val 16471"/>
            </a:avLst>
          </a:prstGeom>
          <a:solidFill>
            <a:srgbClr val="11193A"/>
          </a:solidFill>
          <a:ln w="12700">
            <a:solidFill>
              <a:srgbClr val="24306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03120" y="5698671"/>
            <a:ext cx="457200" cy="457200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03120" y="569867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2697480" y="5773783"/>
            <a:ext cx="8854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2697480" y="6020671"/>
            <a:ext cx="8854135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“Two screens, one AI spine, full audit log. Questions?”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4306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Vector-Minds  •  Ketan Patil  •  SkillsHub AI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248095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Skills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5943600" cy="59436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please.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3337560"/>
            <a:ext cx="10820095" cy="868680"/>
          </a:xfrm>
          <a:prstGeom prst="roundRect">
            <a:avLst>
              <a:gd name="adj" fmla="val 12632"/>
            </a:avLst>
          </a:prstGeom>
          <a:solidFill>
            <a:srgbClr val="1119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29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SkillsHub  —  AI-Powered Skills Intelligence Platform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question in plain English. Get a ranked, reasoned answer in seconds.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526280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1119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754880"/>
            <a:ext cx="457200" cy="457200"/>
          </a:xfrm>
          <a:prstGeom prst="ellipse">
            <a:avLst/>
          </a:prstGeom>
          <a:solidFill>
            <a:srgbClr val="3B82F6">
              <a:alpha val="25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4754880"/>
            <a:ext cx="2570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530352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Ketan Patil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53458" y="4526280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1119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82058" y="4754880"/>
            <a:ext cx="457200" cy="457200"/>
          </a:xfrm>
          <a:prstGeom prst="ellipse">
            <a:avLst/>
          </a:prstGeom>
          <a:solidFill>
            <a:srgbClr val="A78BFA">
              <a:alpha val="25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2058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30698" y="4754880"/>
            <a:ext cx="2570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82058" y="530352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Vector-Minds (with Claude AI)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21117" y="4526280"/>
            <a:ext cx="3484778" cy="1371600"/>
          </a:xfrm>
          <a:prstGeom prst="roundRect">
            <a:avLst>
              <a:gd name="adj" fmla="val 6667"/>
            </a:avLst>
          </a:prstGeom>
          <a:solidFill>
            <a:srgbClr val="1119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49717" y="4754880"/>
            <a:ext cx="457200" cy="457200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9717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98357" y="4754880"/>
            <a:ext cx="2570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49717" y="530352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github.com/KetanPatil27 / skillshub-ai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35508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AI Hackathon  •  2026-05-16  •  Powered by HuggingFace + Google Gemini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SkillsHub - AI-Powered Skills Intelligence Platform</dc:title>
  <dc:subject>PptxGenJS Presentation</dc:subject>
  <dc:creator>Ketan Patil</dc:creator>
  <cp:lastModifiedBy>Ketan Patil</cp:lastModifiedBy>
  <cp:revision>1</cp:revision>
  <dcterms:created xsi:type="dcterms:W3CDTF">2026-05-16T15:04:37Z</dcterms:created>
  <dcterms:modified xsi:type="dcterms:W3CDTF">2026-05-16T15:04:37Z</dcterms:modified>
</cp:coreProperties>
</file>